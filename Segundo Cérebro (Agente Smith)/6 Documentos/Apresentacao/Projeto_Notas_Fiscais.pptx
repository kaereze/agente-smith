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22f5fb6-1123-b4d5-7874-34496178f80d}">
          <p14:sldIdLst>
            <p14:sldId id="256"/>
            <p14:sldId id="257"/>
            <p14:sldId id="258"/>
            <p14:sldId id="259"/>
          </p14:sldIdLst>
        </p14:section>
        <p14:section name="Como funciona" id="{80a80806-dda8-1fa1-0a72-32547ca64288}">
          <p14:sldIdLst>
            <p14:sldId id="260"/>
            <p14:sldId id="261"/>
            <p14:sldId id="262"/>
            <p14:sldId id="263"/>
          </p14:sldIdLst>
        </p14:section>
        <p14:section name="O Painel" id="{8791550e-a3e6-410d-3461-cd970df07a7d}">
          <p14:sldIdLst>
            <p14:sldId id="264"/>
            <p14:sldId id="265"/>
            <p14:sldId id="266"/>
            <p14:sldId id="267"/>
            <p14:sldId id="268"/>
          </p14:sldIdLst>
        </p14:section>
        <p14:section name="Futuro" id="{4879e876-f331-3f87-1631-f37a528fc19d}">
          <p14:sldIdLst>
            <p14:sldId id="269"/>
            <p14:sldId id="270"/>
            <p14:sldId id="271"/>
            <p14:sldId id="272"/>
            <p14:sldId id="273"/>
          </p14:sldIdLst>
        </p14:section>
        <p14:section name="Fechamento" id="{d62b0def-2a97-1725-63fb-a2a4ccb1d7f3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0F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0F0F0"/>
                </a:solidFill>
                <a:latin typeface="+mn-lt"/>
              </a:rPr>
              <a:t>Pedidos por hora (ilustrativo)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Pedidos</c:v>
                </c:pt>
              </c:strCache>
            </c:strRef>
          </c:tx>
          <c:spPr>
            <a:solidFill>
              <a:srgbClr val="479E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8h</c:v>
                  </c:pt>
                  <c:pt idx="1">
                    <c:v>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  <c:pt idx="6">
                    <c:v>14h</c:v>
                  </c:pt>
                  <c:pt idx="7">
                    <c:v>15h</c:v>
                  </c:pt>
                  <c:pt idx="8">
                    <c:v>16h</c:v>
                  </c:pt>
                  <c:pt idx="9">
                    <c:v>17h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7</c:v>
                </c:pt>
                <c:pt idx="2">
                  <c:v>11</c:v>
                </c:pt>
                <c:pt idx="3">
                  <c:v>9</c:v>
                </c:pt>
                <c:pt idx="4">
                  <c:v>13</c:v>
                </c:pt>
                <c:pt idx="5">
                  <c:v>10</c:v>
                </c:pt>
                <c:pt idx="6">
                  <c:v>8</c:v>
                </c:pt>
                <c:pt idx="7">
                  <c:v>9</c:v>
                </c:pt>
                <c:pt idx="8">
                  <c:v>6</c:v>
                </c:pt>
                <c:pt idx="9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A8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Vou apresentar o Projeto Notas Fiscais como ele está hoje, versão de 21 de outubro. São duas partes: um robô que leva os pedidos de nota dos hotéis até a caixa certa, e o Painel Fiscal, que é a tela onde a equipe trabalha. Tudo o que vocês vão ver nas telas é do modo demonstração, com dados inventados.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projeto, cada hotel tinha a sua planilha de pedidos e alguém precisava olhar uma por uma. Faltava dado, então havia muitas idas e vindas com o hóspede. E o robô antigo, que mandava pelo Gmail, estourava a cota diária e parava. O resultado era atraso, retrabalho e risco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uma frase: cada pedido de nota vai sozinho do formulário do hotel até a caixa certa, e a equipe trabalha tudo numa tela só. O robô é o carteiro que não esquece. O Painel é a mesa de trabalho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Alguns números: cerca de 73 hotéis, quatro agentes cada um no seu PC, a cópia das planilhas roda a cada dez minutos, são 440 testes automáticos e por volta de 21 mil linhas de código. E os PCs conversam por dois caminhos, que eu mostro daqui a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caminho do dado: o hóspede preenche o formulário do hotel, a resposta cai na planilha do hotel, que nós só lemos. A cada dez minutos o robô copia para a Planilha Central, monta o e-mail e envia pela caixa do próprio hotel, no PC que tem essa caixa. Ele confere o código do e-mail em Itens Enviados e só então marca o pedido como enviado. O conferente liga o e-mail ao pedido e acha a nota no Dropbox, e o Painel mostra tudo para 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agente tem só as caixas dos seus hotéis no Outlook do seu PC. Para a equipe trabalhar como um computador só, os PCs conversam por dois caminhos. Embaixo, o caminho A: a rede do escritório, direto, na hora, com pedido assinado e só dentro da rede local. Em cima, o caminho B: a Planilha Central funciona como um quadro de recados; cada PC avisa a cada minuto que está vivo, e as filas de envio passam por ali. O GitHub guarda o código e o Dropbox guarda os PDFs das notas.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exemplo real: o robô roda no PC do João, mas a caixa de um hotel da Clara só existe no Outlook dela. O robô consulta na Planilha Central quem tem a caixa. Primeiro tenta pela rede do escritório, que é na hora. Se a rede não chega, deixa o pedido na fila da Central e o Painel da Clara pega em até um minuto. O Outlook dela envia, confere em Itens Enviados, e o robô marca o pedido como enviado. Se o PC dela estiver desligado, o e-mail espera: nunca sai por outra caixa. Pelo Painel, responder e enviar nota ainda vão sempre pela fila; levar para a rede direta é o próximo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Dá para confiar? Estas são as garantias, e cada uma tem um mecanismo no código. O robô anota antes de enviar e confere o código do e-mail, então nunca manda duas vezes. Só marca enviado com confirmação. O remetente é sempre a caixa do próprio hotel. A cota do Google é dividida em fatias. Existe um botão de desligar. As planilhas dos hotéis e o Mail Analytics são só lidos. E nenhuma versão chega aos PCs sem passar pelos 440 testes e pela barreira contra credenciais.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Painel tem quatro telas principais. A Visão geral mostra o resumo do dia e o que precisa de atenção. E-mails é a caixa dos quatro PCs com a cara do Outlook. A Gerência compara o mês com o anterior e aponta o que melhorar, lendo o Mail Analytics sem alterar nada. E o Monitoramento mostra os quatro PCs. Além disso, a pesquisa é instantânea e a nota sai pela caixa do hotel, com conferência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abrir um e-mail, o topo mostra o resumo do hóspede: quem é, a situação, o prazo, o que ele quer na nota e os botões. O formulário vira uma tabela em grupos, com botão de copiar ao lado de cada valor. Cada pedido tem uma situação e pode ter alertas, sempre com as mesmas cores em todas as 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ferramentas: o robô e o servidor são em Python, controlando o Outlook pelo próprio Windows e lendo o PDF da nota. O Google entra com os formulários, as planilhas e a conta de serviço. As telas são HTML, CSS e JavaScript numa janela própria. A infraestrutura junta Outlook, Dropbox, GitHub e o Agendador do Windows. E a qualidade vem dos testes automáticos, da documentação no Obsidian e do Claude Code programando junto; o Supabase está preparado para 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design passou por quatro fases. Começou parecendo um jogo, com cores demais. Virou uma paleta fiscal, sóbria. Ganhou um padrão fixo, pensando numa empresa grande. E desde 20 de outubro segue o Outlook escuro: cinza com azul de destaque. Verde e creme ficam só na tabela do formulário e nas cores de situação. Cada elemento de tela existe uma vez só e é reaproveitado em todas as 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Segurança: o Painel só atende dentro do próprio PC, com senha de sessão. A rede entre os PCs é só local e cada pedido é assinado e vale dois minutos. Nenhuma credencial ou CPF real entra no código, porque a checagem automática barra. E as fontes externas são só lidas. Na LGPD, os dados de hóspedes são usados só para emitir e mandar a nota, com prazos de limpeza definidos, e tudo o que é exemplo usa dados inventados. Sendo honesto sobre os limites: o sistema depende do Outlook aberto e do PC ligado, de um PC principal, da cota do Google, e liberar a rede exige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Daqui em diante é futuro, nada disso existe ainda. Primeiro: uma gerência em tempo real, mostrando o que cada agente está fazendo agora. A base já existe: cada PC já publica o que faz, e a tela de Monitoramento já mostra. Falta atualizar na hora e criar a visão de gestor. O cuidado é usar para melhorar o processo, não para vigiar pessoas. O gráfico é ilustrativo.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ideia: um agente de IA dentro do Painel. Em vez de procurar em várias telas, a pessoa pergunta em português, por exemplo quantas notas um hotel emitiu na semana, e recebe o número ou o relatório. A base é a interface local que o Painel já tem. Falta construir a ponte, só de leitura, e definir quem pode perguntar o quê. E com cuidado de LGPD: a IA não deve receber dados pessoais sem necessidade.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Terceira frente: a parte financeira. Faturamento com os valores reais de cada nota, notas canceladas aparecendo na hora, e depois um controle de caixa. As duas primeiras já têm base no projeto, porque ele já lê as notas e os cancelamentos no Dropbox. O controle de caixa seria um módulo novo. Aqui o cuidado é ainda maior: acesso restrito e registro de quem alterou o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Quarta frente: crescer para outros setores. Usuários com hierarquia, de agente até diretoria, cada nível vendo o seu escopo. O Comercial conectado pelo mesmo modelo de hoje, e depois reservas e ligações internas. E, quando crescer, trocar a planilha por um banco de dados central, o Supabase, que já está configurado: sem o limite de leituras do Google, mais rápido e com histórico. A ideia geral é um painel que conecta vários Outlooks e vira a central de vários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roadmap proposto tem quatro etapas. A primeira, que começa agora, é deixar tudo instantâneo entre os PCs. A segunda é a gerência em tempo real. A terceira, pessoas e permissões, com o agente de IA. A quarta, até o fim de 2026 e depois, transforma o Painel na central da empresa. É uma proposta: cada etapa passa por desenho e aprovação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próximos passos que eu recomendo, em ordem: primeiro, o envio direto pela rede, que é o que a equipe mais sente no dia a dia. Depois, e-mail novo e nota do Dropbox aparecendo na hora. Depois, a tela recebendo só o que mudou. Resolver a rede do PC da Clara com um administrador. E começar a desenhar a gerência em tempo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fechar: um robô que entrega cada pedido sem ninguém copiar e colar, um painel onde a equipe trabalha tudo junto, e uma base pronta para crescer. Obrigado.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5394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Projeto Notas Fiscais · Rede Andrade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194560"/>
            <a:ext cx="5943600" cy="59436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777240"/>
            <a:ext cx="50292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NF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96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REDE ANDRADE · SETOR FISCAL</a:t>
            </a:r>
            <a:endParaRPr lang="en-US" sz="1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18288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Projeto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Notas Fiscais</a:t>
            </a:r>
            <a:endParaRPr lang="en-US" sz="5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3794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Robô Solicitações NF + Painel Fiscal: o pedido de nota do hóspede, do formulário à caixa do hotel, nos 4 PCs.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74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Documentação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Como está hoje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5074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21/10/2026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5074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Versão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2026.10.21.5</a:t>
            </a:r>
            <a:endParaRPr lang="en-US" sz="1500" dirty="0"/>
          </a:p>
        </p:txBody>
      </p:sp>
      <p:sp>
        <p:nvSpPr>
          <p:cNvPr id="14" name="moldura"/>
          <p:cNvSpPr/>
          <p:nvPr/>
        </p:nvSpPr>
        <p:spPr>
          <a:xfrm>
            <a:off x="6537960" y="1417320"/>
            <a:ext cx="5394960" cy="3383280"/>
          </a:xfrm>
          <a:prstGeom prst="roundRect">
            <a:avLst>
              <a:gd name="adj" fmla="val 1622"/>
            </a:avLst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Painel Fiscal, tela E-mails, modo demonstr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5303520" cy="33147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583680" y="4937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</a:rPr>
              <a:t>Telas em modo demonstração, com dados fictícios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 PROBLEMA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Antes: pedidos espalhados e muito trabalho manual</a:t>
            </a:r>
            <a:endParaRPr lang="en-US" sz="3000" dirty="0"/>
          </a:p>
        </p:txBody>
      </p:sp>
      <p:sp>
        <p:nvSpPr>
          <p:cNvPr id="4" name="problema-1"/>
          <p:cNvSpPr/>
          <p:nvPr/>
        </p:nvSpPr>
        <p:spPr>
          <a:xfrm>
            <a:off x="548640" y="1783080"/>
            <a:ext cx="3529584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icone-tabela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tab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Planilhas espalhadas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Cada um dos ~73 hotéis tinha a sua planilha de pedidos. Alguém precisava abrir uma por uma.</a:t>
            </a:r>
            <a:endParaRPr lang="en-US" sz="1400" dirty="0"/>
          </a:p>
        </p:txBody>
      </p:sp>
      <p:sp>
        <p:nvSpPr>
          <p:cNvPr id="9" name="problema-2"/>
          <p:cNvSpPr/>
          <p:nvPr/>
        </p:nvSpPr>
        <p:spPr>
          <a:xfrm>
            <a:off x="4315968" y="1783080"/>
            <a:ext cx="3529584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icone-conversa"/>
          <p:cNvSpPr/>
          <p:nvPr/>
        </p:nvSpPr>
        <p:spPr>
          <a:xfrm>
            <a:off x="4636008" y="21031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convers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677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6008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Idas e vindas por e-mail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Dados incompletos geravam várias trocas com o hóspede até a nota sair certa.</a:t>
            </a:r>
            <a:endParaRPr lang="en-US" sz="1400" dirty="0"/>
          </a:p>
        </p:txBody>
      </p:sp>
      <p:sp>
        <p:nvSpPr>
          <p:cNvPr id="14" name="problema-3"/>
          <p:cNvSpPr/>
          <p:nvPr/>
        </p:nvSpPr>
        <p:spPr>
          <a:xfrm>
            <a:off x="8083296" y="1783080"/>
            <a:ext cx="3529584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icone-alerta"/>
          <p:cNvSpPr/>
          <p:nvPr/>
        </p:nvSpPr>
        <p:spPr>
          <a:xfrm>
            <a:off x="8403336" y="210312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2" descr="aler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2677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3336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Robô antigo no limite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03336" y="35204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O robô antigo, pelo Gmail, estourava a cota diária de envio e parava no meio do dia.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Resultado: 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atraso, retrabalho e risco de nota errada ou enviada duas vezes.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SOLUÇÃO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Em uma frase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chemeClr val="tx1"/>
                </a:solidFill>
              </a:rPr>
              <a:t>Cada pedido de NF vai sozinho do formulário do hotel até a caixa certa, e a equipe trabalha tudo numa tela só.</a:t>
            </a:r>
            <a:endParaRPr lang="en-US" sz="3200" dirty="0"/>
          </a:p>
        </p:txBody>
      </p:sp>
      <p:sp>
        <p:nvSpPr>
          <p:cNvPr id="5" name="lado-1"/>
          <p:cNvSpPr/>
          <p:nvPr/>
        </p:nvSpPr>
        <p:spPr>
          <a:xfrm>
            <a:off x="548640" y="3749040"/>
            <a:ext cx="539496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icone-robo"/>
          <p:cNvSpPr/>
          <p:nvPr/>
        </p:nvSpPr>
        <p:spPr>
          <a:xfrm>
            <a:off x="868680" y="4069080"/>
            <a:ext cx="731520" cy="73152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pic>
        <p:nvPicPr>
          <p:cNvPr id="7" name="Image 0" descr="ro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42446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Robô Solicitações NF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45720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O carteiro que não esquece: copia os pedidos, envia pela caixa do próprio hotel, confere o envio e acha a NF no Dropbox.</a:t>
            </a:r>
            <a:endParaRPr lang="en-US" sz="1400" dirty="0"/>
          </a:p>
        </p:txBody>
      </p:sp>
      <p:sp>
        <p:nvSpPr>
          <p:cNvPr id="10" name="lado-2"/>
          <p:cNvSpPr/>
          <p:nvPr/>
        </p:nvSpPr>
        <p:spPr>
          <a:xfrm>
            <a:off x="6217920" y="3749040"/>
            <a:ext cx="539496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icone-pc"/>
          <p:cNvSpPr/>
          <p:nvPr/>
        </p:nvSpPr>
        <p:spPr>
          <a:xfrm>
            <a:off x="6537960" y="4069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525" y="42446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Painel Fiscal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45720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 mesa de trabalho: espelho do Outlook dos 4 PCs com ficha do pedido, prazo, o que falta e o envio da NF.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NÚMEROS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projeto hoje</a:t>
            </a:r>
            <a:endParaRPr lang="en-US" sz="3000" dirty="0"/>
          </a:p>
        </p:txBody>
      </p:sp>
      <p:sp>
        <p:nvSpPr>
          <p:cNvPr id="4" name="numero-1"/>
          <p:cNvSpPr/>
          <p:nvPr/>
        </p:nvSpPr>
        <p:spPr>
          <a:xfrm>
            <a:off x="548640" y="1783080"/>
            <a:ext cx="35295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chemeClr val="accent1"/>
                </a:solidFill>
              </a:rPr>
              <a:t>~73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hotéis da rede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78 planilhas de formulário acompanhadas</a:t>
            </a:r>
            <a:endParaRPr lang="en-US" sz="1200" dirty="0"/>
          </a:p>
        </p:txBody>
      </p:sp>
      <p:sp>
        <p:nvSpPr>
          <p:cNvPr id="8" name="numero-2"/>
          <p:cNvSpPr/>
          <p:nvPr/>
        </p:nvSpPr>
        <p:spPr>
          <a:xfrm>
            <a:off x="4315968" y="1783080"/>
            <a:ext cx="35295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chemeClr val="tx1"/>
                </a:solidFill>
              </a:rPr>
              <a:t>4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880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agentes e PCs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cada um com o Outlook dos seus hotéis</a:t>
            </a:r>
            <a:endParaRPr lang="en-US" sz="1200" dirty="0"/>
          </a:p>
        </p:txBody>
      </p:sp>
      <p:sp>
        <p:nvSpPr>
          <p:cNvPr id="12" name="numero-3"/>
          <p:cNvSpPr/>
          <p:nvPr/>
        </p:nvSpPr>
        <p:spPr>
          <a:xfrm>
            <a:off x="8083296" y="1783080"/>
            <a:ext cx="35295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3336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chemeClr val="tx1"/>
                </a:solidFill>
              </a:rPr>
              <a:t>10 min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880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entre uma cópia e outra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das planilhas dos hotéis para a Central</a:t>
            </a:r>
            <a:endParaRPr lang="en-US" sz="1200" dirty="0"/>
          </a:p>
        </p:txBody>
      </p:sp>
      <p:sp>
        <p:nvSpPr>
          <p:cNvPr id="16" name="numero-4"/>
          <p:cNvSpPr/>
          <p:nvPr/>
        </p:nvSpPr>
        <p:spPr>
          <a:xfrm>
            <a:off x="548640" y="4023360"/>
            <a:ext cx="35295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251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chemeClr val="accent1"/>
                </a:solidFill>
              </a:rPr>
              <a:t>440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20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testes automáticos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486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antes de cada entrega e no GitHub</a:t>
            </a:r>
            <a:endParaRPr lang="en-US" sz="1200" dirty="0"/>
          </a:p>
        </p:txBody>
      </p:sp>
      <p:sp>
        <p:nvSpPr>
          <p:cNvPr id="20" name="numero-5"/>
          <p:cNvSpPr/>
          <p:nvPr/>
        </p:nvSpPr>
        <p:spPr>
          <a:xfrm>
            <a:off x="4315968" y="4023360"/>
            <a:ext cx="35295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4251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chemeClr val="tx1"/>
                </a:solidFill>
              </a:rPr>
              <a:t>~21 mil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5120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linhas de código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5486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Python, HTML, CSS e JavaScript</a:t>
            </a:r>
            <a:endParaRPr lang="en-US" sz="1200" dirty="0"/>
          </a:p>
        </p:txBody>
      </p:sp>
      <p:sp>
        <p:nvSpPr>
          <p:cNvPr id="24" name="numero-6"/>
          <p:cNvSpPr/>
          <p:nvPr/>
        </p:nvSpPr>
        <p:spPr>
          <a:xfrm>
            <a:off x="8083296" y="4023360"/>
            <a:ext cx="3529584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3336" y="4251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chemeClr val="tx1"/>
                </a:solidFill>
              </a:rPr>
              <a:t>2</a:t>
            </a:r>
            <a:endParaRPr lang="en-US" sz="480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51206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caminhos entre os PCs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03336" y="5486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rede do escritório e Planilha Central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 CAMINHO DO DADO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 formulário do hotel até a tela da equipe</a:t>
            </a:r>
            <a:endParaRPr lang="en-US" sz="3000" dirty="0"/>
          </a:p>
        </p:txBody>
      </p:sp>
      <p:sp>
        <p:nvSpPr>
          <p:cNvPr id="4" name="passo-1"/>
          <p:cNvSpPr/>
          <p:nvPr/>
        </p:nvSpPr>
        <p:spPr>
          <a:xfrm>
            <a:off x="548640" y="1965960"/>
            <a:ext cx="1627632" cy="214884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icone-documento"/>
          <p:cNvSpPr/>
          <p:nvPr/>
        </p:nvSpPr>
        <p:spPr>
          <a:xfrm>
            <a:off x="1042416" y="2194560"/>
            <a:ext cx="640080" cy="640080"/>
          </a:xfrm>
          <a:prstGeom prst="ellipse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pic>
        <p:nvPicPr>
          <p:cNvPr id="6" name="Image 0" descr="docu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9077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Formulário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529584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Google Forms do hotel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03704" y="3035808"/>
            <a:ext cx="206654" cy="0"/>
          </a:xfrm>
          <a:prstGeom prst="line">
            <a:avLst/>
          </a:prstGeom>
          <a:noFill/>
          <a:ln w="222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0" name="passo-2"/>
          <p:cNvSpPr/>
          <p:nvPr/>
        </p:nvSpPr>
        <p:spPr>
          <a:xfrm>
            <a:off x="2437790" y="1965960"/>
            <a:ext cx="1627632" cy="214884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icone-tabela"/>
          <p:cNvSpPr/>
          <p:nvPr/>
        </p:nvSpPr>
        <p:spPr>
          <a:xfrm>
            <a:off x="2931566" y="2194560"/>
            <a:ext cx="640080" cy="640080"/>
          </a:xfrm>
          <a:prstGeom prst="ellipse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</p:sp>
      <p:pic>
        <p:nvPicPr>
          <p:cNvPr id="12" name="Image 1" descr="tab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186" y="23481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47518" y="29077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Planilha do hotel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547518" y="3529584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só leitura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092854" y="3035808"/>
            <a:ext cx="206654" cy="0"/>
          </a:xfrm>
          <a:prstGeom prst="line">
            <a:avLst/>
          </a:prstGeom>
          <a:noFill/>
          <a:ln w="222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" name="passo-3"/>
          <p:cNvSpPr/>
          <p:nvPr/>
        </p:nvSpPr>
        <p:spPr>
          <a:xfrm>
            <a:off x="4326941" y="1965960"/>
            <a:ext cx="1627632" cy="214884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icone-sync"/>
          <p:cNvSpPr/>
          <p:nvPr/>
        </p:nvSpPr>
        <p:spPr>
          <a:xfrm>
            <a:off x="4820717" y="2194560"/>
            <a:ext cx="640080" cy="64008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pic>
        <p:nvPicPr>
          <p:cNvPr id="18" name="Image 2" descr="syn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23481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36669" y="29077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Planilha Central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436669" y="3529584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cópia a cada 10 min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982005" y="3035808"/>
            <a:ext cx="206654" cy="0"/>
          </a:xfrm>
          <a:prstGeom prst="line">
            <a:avLst/>
          </a:prstGeom>
          <a:noFill/>
          <a:ln w="222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2" name="passo-4"/>
          <p:cNvSpPr/>
          <p:nvPr/>
        </p:nvSpPr>
        <p:spPr>
          <a:xfrm>
            <a:off x="6216091" y="1965960"/>
            <a:ext cx="1627632" cy="214884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icone-enviar"/>
          <p:cNvSpPr/>
          <p:nvPr/>
        </p:nvSpPr>
        <p:spPr>
          <a:xfrm>
            <a:off x="6709867" y="2194560"/>
            <a:ext cx="640080" cy="64008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24" name="Image 3" descr="envi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86" y="234817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325819" y="29077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Robô envia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325819" y="3529584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pela caixa do hotel, no PC dono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871155" y="3035808"/>
            <a:ext cx="206654" cy="0"/>
          </a:xfrm>
          <a:prstGeom prst="line">
            <a:avLst/>
          </a:prstGeom>
          <a:noFill/>
          <a:ln w="222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8" name="passo-5"/>
          <p:cNvSpPr/>
          <p:nvPr/>
        </p:nvSpPr>
        <p:spPr>
          <a:xfrm>
            <a:off x="8105242" y="1965960"/>
            <a:ext cx="1627632" cy="2148840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9" name="icone-email"/>
          <p:cNvSpPr/>
          <p:nvPr/>
        </p:nvSpPr>
        <p:spPr>
          <a:xfrm>
            <a:off x="8599018" y="2194560"/>
            <a:ext cx="640080" cy="64008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30" name="Image 4" descr="ema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2637" y="234817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214970" y="29077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Itens Enviados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14970" y="3529584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código NF- conferido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9760306" y="3035808"/>
            <a:ext cx="206654" cy="0"/>
          </a:xfrm>
          <a:prstGeom prst="line">
            <a:avLst/>
          </a:prstGeom>
          <a:noFill/>
          <a:ln w="222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4" name="passo-6"/>
          <p:cNvSpPr/>
          <p:nvPr/>
        </p:nvSpPr>
        <p:spPr>
          <a:xfrm>
            <a:off x="9994392" y="1965960"/>
            <a:ext cx="1627632" cy="2148840"/>
          </a:xfrm>
          <a:prstGeom prst="roundRect">
            <a:avLst>
              <a:gd name="adj" fmla="val 5618"/>
            </a:avLst>
          </a:prstGeom>
          <a:solidFill>
            <a:srgbClr val="1D355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35" name="icone-pc"/>
          <p:cNvSpPr/>
          <p:nvPr/>
        </p:nvSpPr>
        <p:spPr>
          <a:xfrm>
            <a:off x="10488168" y="2194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5" descr="p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1787" y="2348179"/>
            <a:ext cx="332842" cy="33284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104120" y="29077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Painel Fiscal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10104120" y="3529584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 equipe vê e age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16091" y="4343400"/>
            <a:ext cx="3516782" cy="566928"/>
          </a:xfrm>
          <a:prstGeom prst="roundRect">
            <a:avLst>
              <a:gd name="adj" fmla="val 16129"/>
            </a:avLst>
          </a:prstGeom>
          <a:solidFill>
            <a:srgbClr val="173B2A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216091" y="4343400"/>
            <a:ext cx="35167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FD19E"/>
                </a:solidFill>
              </a:rPr>
              <a:t>só então marca TRUE no pedido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2" name="icone-robo"/>
          <p:cNvSpPr/>
          <p:nvPr/>
        </p:nvSpPr>
        <p:spPr>
          <a:xfrm>
            <a:off x="777240" y="5321808"/>
            <a:ext cx="548640" cy="54864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pic>
        <p:nvPicPr>
          <p:cNvPr id="43" name="Image 6" descr="rob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14" y="5453482"/>
            <a:ext cx="285293" cy="285293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508760" y="51663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O conferente 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roda o dia todo em cada PC: liga cada e-mail ao seu pedido, acha a NF no Dropbox e põe as etiquetas no Outlook.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COMO OS 4 PCs CONVERSAM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Quatro PCs, dois caminhos</a:t>
            </a:r>
            <a:endParaRPr lang="en-US" sz="3000" dirty="0"/>
          </a:p>
        </p:txBody>
      </p:sp>
      <p:sp>
        <p:nvSpPr>
          <p:cNvPr id="4" name="central"/>
          <p:cNvSpPr/>
          <p:nvPr/>
        </p:nvSpPr>
        <p:spPr>
          <a:xfrm>
            <a:off x="4270248" y="164592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1D3550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70248" y="1700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FE4FB"/>
                </a:solidFill>
              </a:rPr>
              <a:t>Planilha Central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2075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Caminho B · quadro de recados (até 1 min)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GitHub · código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0" y="18745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Dropbox · PDFs das NFs</a:t>
            </a:r>
            <a:endParaRPr lang="en-US" sz="1100" dirty="0"/>
          </a:p>
        </p:txBody>
      </p:sp>
      <p:sp>
        <p:nvSpPr>
          <p:cNvPr id="11" name="pc-1"/>
          <p:cNvSpPr/>
          <p:nvPr/>
        </p:nvSpPr>
        <p:spPr>
          <a:xfrm>
            <a:off x="548640" y="3063240"/>
            <a:ext cx="25968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729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PC do João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02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principal: robô + cópia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86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Outlook · caixas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224528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2245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Robô + conferente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562856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1D3550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5628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4FB"/>
                </a:solidFill>
              </a:rPr>
              <a:t>Painel local · só neste PC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V="1">
            <a:off x="1847088" y="2532888"/>
            <a:ext cx="3566160" cy="51206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847088" y="5001768"/>
            <a:ext cx="0" cy="4114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22" name="pc-2"/>
          <p:cNvSpPr/>
          <p:nvPr/>
        </p:nvSpPr>
        <p:spPr>
          <a:xfrm>
            <a:off x="3410712" y="3063240"/>
            <a:ext cx="25968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93592" y="31729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PC da Clara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93592" y="3502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conferente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93592" y="3886200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93592" y="3886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Outlook · caixas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93592" y="4224528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93592" y="42245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Conferente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93592" y="4562856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1D3550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93592" y="45628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4FB"/>
                </a:solidFill>
              </a:rPr>
              <a:t>Painel local · só neste PC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 flipV="1">
            <a:off x="4709160" y="2532888"/>
            <a:ext cx="1161288" cy="51206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09160" y="5001768"/>
            <a:ext cx="0" cy="4114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33" name="pc-3"/>
          <p:cNvSpPr/>
          <p:nvPr/>
        </p:nvSpPr>
        <p:spPr>
          <a:xfrm>
            <a:off x="6272784" y="3063240"/>
            <a:ext cx="25968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55664" y="31729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PC do Cristian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455664" y="3502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conferente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55664" y="3886200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55664" y="3886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Outlook · caixas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55664" y="4224528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55664" y="42245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Conferente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55664" y="4562856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1D3550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55664" y="45628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4FB"/>
                </a:solidFill>
              </a:rPr>
              <a:t>Painel local · só neste PC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 flipH="1" flipV="1">
            <a:off x="6327648" y="2532888"/>
            <a:ext cx="1243584" cy="51206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571232" y="5001768"/>
            <a:ext cx="0" cy="4114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44" name="pc-4"/>
          <p:cNvSpPr/>
          <p:nvPr/>
        </p:nvSpPr>
        <p:spPr>
          <a:xfrm>
            <a:off x="9134856" y="3063240"/>
            <a:ext cx="2596896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17736" y="31729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PC do Bernardo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317736" y="3502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conferente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317736" y="3886200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17736" y="3886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Outlook · caixas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317736" y="4224528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17736" y="42245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chemeClr val="tx1"/>
                </a:solidFill>
              </a:rPr>
              <a:t>Conferente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317736" y="4562856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1D3550"/>
          </a:solidFill>
          <a:ln w="12700">
            <a:solidFill>
              <a:srgbClr val="1D355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17736" y="456285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4FB"/>
                </a:solidFill>
              </a:rPr>
              <a:t>Painel local · só neste PC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 flipH="1" flipV="1">
            <a:off x="6784848" y="2532888"/>
            <a:ext cx="3648456" cy="51206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headEnd type="triangl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433304" y="5001768"/>
            <a:ext cx="0" cy="4114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55" name="rede-local"/>
          <p:cNvSpPr/>
          <p:nvPr/>
        </p:nvSpPr>
        <p:spPr>
          <a:xfrm>
            <a:off x="548640" y="5413248"/>
            <a:ext cx="11064240" cy="621792"/>
          </a:xfrm>
          <a:prstGeom prst="roundRect">
            <a:avLst>
              <a:gd name="adj" fmla="val 50000"/>
            </a:avLst>
          </a:prstGeom>
          <a:solidFill>
            <a:srgbClr val="231C3A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5413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BBDF7"/>
                </a:solidFill>
              </a:rPr>
              <a:t>Caminho A · rede do escritório (porta 8766)  </a:t>
            </a:r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898E0"/>
                </a:solidFill>
              </a:rPr>
              <a:t>pedido assinado, só rede local, na hora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EXEMPLO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e-mail saindo pela caixa que está no PC da Clara</a:t>
            </a:r>
            <a:endParaRPr lang="en-US" sz="3000" dirty="0"/>
          </a:p>
        </p:txBody>
      </p:sp>
      <p:sp>
        <p:nvSpPr>
          <p:cNvPr id="4" name="ex-1"/>
          <p:cNvSpPr/>
          <p:nvPr/>
        </p:nvSpPr>
        <p:spPr>
          <a:xfrm>
            <a:off x="548640" y="1783080"/>
            <a:ext cx="246888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Quem tem a caixa?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O robô, no PC do João, lê na aba PCs_Painel: a caixa do hotel está no PC da Clara.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flipV="1">
            <a:off x="3063240" y="2377440"/>
            <a:ext cx="457200" cy="59436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2971800"/>
            <a:ext cx="457200" cy="6400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ex-2a"/>
          <p:cNvSpPr/>
          <p:nvPr/>
        </p:nvSpPr>
        <p:spPr>
          <a:xfrm>
            <a:off x="3566160" y="178308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231C3A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8928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CBBDF7"/>
                </a:solidFill>
              </a:rPr>
              <a:t>2A · Rede do escritório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240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898E0"/>
                </a:solidFill>
              </a:rPr>
              <a:t>pedido assinado direto ao PC da Clara: na hora</a:t>
            </a:r>
            <a:endParaRPr lang="en-US" sz="1200" dirty="0"/>
          </a:p>
        </p:txBody>
      </p:sp>
      <p:sp>
        <p:nvSpPr>
          <p:cNvPr id="14" name="ex-2b"/>
          <p:cNvSpPr/>
          <p:nvPr/>
        </p:nvSpPr>
        <p:spPr>
          <a:xfrm>
            <a:off x="3566160" y="30175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1D355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3127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CFE4FB"/>
                </a:solidFill>
              </a:rPr>
              <a:t>2B · Fila da Central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se a rede não chega: aba Envios_NF; o Painel dela pega em até 1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377440"/>
            <a:ext cx="457200" cy="59436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6903720" y="2971800"/>
            <a:ext cx="457200" cy="6400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ex-3"/>
          <p:cNvSpPr/>
          <p:nvPr/>
        </p:nvSpPr>
        <p:spPr>
          <a:xfrm>
            <a:off x="7406640" y="1783080"/>
            <a:ext cx="2103120" cy="23774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Clara envia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97180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O Outlook dela envia pela caixa do hotel e confere em Itens Enviados.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555480" y="2971800"/>
            <a:ext cx="411480" cy="0"/>
          </a:xfrm>
          <a:prstGeom prst="line">
            <a:avLst/>
          </a:prstGeom>
          <a:noFill/>
          <a:ln w="222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5" name="ex-4"/>
          <p:cNvSpPr/>
          <p:nvPr/>
        </p:nvSpPr>
        <p:spPr>
          <a:xfrm>
            <a:off x="10012680" y="1783080"/>
            <a:ext cx="1600200" cy="2377440"/>
          </a:xfrm>
          <a:prstGeom prst="roundRect">
            <a:avLst>
              <a:gd name="adj" fmla="val 5714"/>
            </a:avLst>
          </a:prstGeom>
          <a:solidFill>
            <a:srgbClr val="173B2A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0" y="1965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41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8FD19E"/>
                </a:solidFill>
              </a:rPr>
              <a:t>TRUE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297180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E6C8"/>
                </a:solidFill>
              </a:rPr>
              <a:t>o robô marca o pedido como enviado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33290F"/>
          </a:solidFill>
          <a:ln w="12700">
            <a:solidFill>
              <a:srgbClr val="5A4A1E"/>
            </a:solidFill>
            <a:prstDash val="solid"/>
          </a:ln>
        </p:spPr>
      </p:sp>
      <p:sp>
        <p:nvSpPr>
          <p:cNvPr id="31" name="icone-alerta"/>
          <p:cNvSpPr/>
          <p:nvPr/>
        </p:nvSpPr>
        <p:spPr>
          <a:xfrm>
            <a:off x="777240" y="4709160"/>
            <a:ext cx="502920" cy="502920"/>
          </a:xfrm>
          <a:prstGeom prst="ellipse">
            <a:avLst/>
          </a:prstGeom>
          <a:solidFill>
            <a:srgbClr val="8A6A1E"/>
          </a:solidFill>
          <a:ln w="12700">
            <a:solidFill>
              <a:srgbClr val="8A6A1E"/>
            </a:solidFill>
            <a:prstDash val="solid"/>
          </a:ln>
        </p:spPr>
      </p:sp>
      <p:pic>
        <p:nvPicPr>
          <p:cNvPr id="32" name="Image 0" descr="aler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4829861"/>
            <a:ext cx="261518" cy="261518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63040" y="46634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C76B"/>
                </a:solidFill>
              </a:rPr>
              <a:t>PC dela desligado?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D7A8"/>
                </a:solidFill>
              </a:rPr>
              <a:t>O e-mail não sai por outra caixa. O robô tenta de novo em 10 min; passou de 2 h, o Painel dá o alarme.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172200" y="4526280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5" name="icone-info"/>
          <p:cNvSpPr/>
          <p:nvPr/>
        </p:nvSpPr>
        <p:spPr>
          <a:xfrm>
            <a:off x="6400800" y="4709160"/>
            <a:ext cx="502920" cy="502920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pic>
        <p:nvPicPr>
          <p:cNvPr id="36" name="Image 1" descr="inf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4829861"/>
            <a:ext cx="261518" cy="261518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7086600" y="46634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E pelo Painel?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Responder e Enviar NF seguem a mesma regra, mas hoje vão sempre pela fila (2B). A rede direta é o próximo passo.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DÁ PARA CONFIAR?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As garantias do sistema</a:t>
            </a:r>
            <a:endParaRPr lang="en-US" sz="3000" dirty="0"/>
          </a:p>
        </p:txBody>
      </p:sp>
      <p:sp>
        <p:nvSpPr>
          <p:cNvPr id="4" name="garantia-1"/>
          <p:cNvSpPr/>
          <p:nvPr/>
        </p:nvSpPr>
        <p:spPr>
          <a:xfrm>
            <a:off x="548640" y="178308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icone-check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23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Nunca envia duas vezes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095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anota antes de enviar e confere o código NF- em Itens Enviados</a:t>
            </a:r>
            <a:endParaRPr lang="en-US" sz="1200" dirty="0"/>
          </a:p>
        </p:txBody>
      </p:sp>
      <p:sp>
        <p:nvSpPr>
          <p:cNvPr id="9" name="garantia-2"/>
          <p:cNvSpPr/>
          <p:nvPr/>
        </p:nvSpPr>
        <p:spPr>
          <a:xfrm>
            <a:off x="3355848" y="178308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icone-check"/>
          <p:cNvSpPr/>
          <p:nvPr/>
        </p:nvSpPr>
        <p:spPr>
          <a:xfrm>
            <a:off x="3584448" y="2011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149" y="21323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84448" y="2606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TRUE só com confirmação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32095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 única escrita nas planilhas dos hotéis</a:t>
            </a:r>
            <a:endParaRPr lang="en-US" sz="1200" dirty="0"/>
          </a:p>
        </p:txBody>
      </p:sp>
      <p:sp>
        <p:nvSpPr>
          <p:cNvPr id="14" name="garantia-3"/>
          <p:cNvSpPr/>
          <p:nvPr/>
        </p:nvSpPr>
        <p:spPr>
          <a:xfrm>
            <a:off x="6163056" y="178308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icone-check"/>
          <p:cNvSpPr/>
          <p:nvPr/>
        </p:nvSpPr>
        <p:spPr>
          <a:xfrm>
            <a:off x="6391656" y="2011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57" y="213238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91656" y="2606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Remetente certo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32095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sempre a caixa do próprio hotel, no PC dono</a:t>
            </a:r>
            <a:endParaRPr lang="en-US" sz="1200" dirty="0"/>
          </a:p>
        </p:txBody>
      </p:sp>
      <p:sp>
        <p:nvSpPr>
          <p:cNvPr id="19" name="garantia-4"/>
          <p:cNvSpPr/>
          <p:nvPr/>
        </p:nvSpPr>
        <p:spPr>
          <a:xfrm>
            <a:off x="8970264" y="178308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icone-check"/>
          <p:cNvSpPr/>
          <p:nvPr/>
        </p:nvSpPr>
        <p:spPr>
          <a:xfrm>
            <a:off x="9198864" y="2011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565" y="213238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98864" y="26060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Cota do Google respeitada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32095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fatias fixas: 57 de 60 leituras por minuto</a:t>
            </a:r>
            <a:endParaRPr lang="en-US" sz="1200" dirty="0"/>
          </a:p>
        </p:txBody>
      </p:sp>
      <p:sp>
        <p:nvSpPr>
          <p:cNvPr id="24" name="garantia-5"/>
          <p:cNvSpPr/>
          <p:nvPr/>
        </p:nvSpPr>
        <p:spPr>
          <a:xfrm>
            <a:off x="548640" y="397764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icone-check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32694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800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Botão de desligar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404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aba Status, B1: nada é enviado</a:t>
            </a:r>
            <a:endParaRPr lang="en-US" sz="1200" dirty="0"/>
          </a:p>
        </p:txBody>
      </p:sp>
      <p:sp>
        <p:nvSpPr>
          <p:cNvPr id="29" name="garantia-6"/>
          <p:cNvSpPr/>
          <p:nvPr/>
        </p:nvSpPr>
        <p:spPr>
          <a:xfrm>
            <a:off x="3355848" y="397764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0" name="icone-check"/>
          <p:cNvSpPr/>
          <p:nvPr/>
        </p:nvSpPr>
        <p:spPr>
          <a:xfrm>
            <a:off x="3584448" y="4206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149" y="432694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84448" y="4800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Fontes só leitura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3584448" y="5404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planilhas dos hotéis e Mail Analytics</a:t>
            </a:r>
            <a:endParaRPr lang="en-US" sz="1200" dirty="0"/>
          </a:p>
        </p:txBody>
      </p:sp>
      <p:sp>
        <p:nvSpPr>
          <p:cNvPr id="34" name="garantia-7"/>
          <p:cNvSpPr/>
          <p:nvPr/>
        </p:nvSpPr>
        <p:spPr>
          <a:xfrm>
            <a:off x="6163056" y="397764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5" name="icone-check"/>
          <p:cNvSpPr/>
          <p:nvPr/>
        </p:nvSpPr>
        <p:spPr>
          <a:xfrm>
            <a:off x="6391656" y="4206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6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2357" y="4326941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91656" y="4800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Testado antes de chegar</a:t>
            </a:r>
            <a:endParaRPr lang="en-US" sz="1450" dirty="0"/>
          </a:p>
        </p:txBody>
      </p:sp>
      <p:sp>
        <p:nvSpPr>
          <p:cNvPr id="38" name="Text 29"/>
          <p:cNvSpPr txBox="1"/>
          <p:nvPr/>
        </p:nvSpPr>
        <p:spPr>
          <a:xfrm>
            <a:off x="6391656" y="5404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440 testes antes de cada entrega e no GitHub</a:t>
            </a:r>
            <a:endParaRPr lang="en-US" sz="1200" dirty="0"/>
          </a:p>
        </p:txBody>
      </p:sp>
      <p:sp>
        <p:nvSpPr>
          <p:cNvPr id="39" name="garantia-8"/>
          <p:cNvSpPr/>
          <p:nvPr/>
        </p:nvSpPr>
        <p:spPr>
          <a:xfrm>
            <a:off x="8970264" y="3977640"/>
            <a:ext cx="26060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0" name="icone-check"/>
          <p:cNvSpPr/>
          <p:nvPr/>
        </p:nvSpPr>
        <p:spPr>
          <a:xfrm>
            <a:off x="9198864" y="42062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9565" y="4326941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98864" y="4800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Nada de segredo no código</a:t>
            </a:r>
            <a:endParaRPr lang="en-US" sz="1450" dirty="0"/>
          </a:p>
        </p:txBody>
      </p:sp>
      <p:sp>
        <p:nvSpPr>
          <p:cNvPr id="43" name="Text 33"/>
          <p:cNvSpPr txBox="1"/>
          <p:nvPr/>
        </p:nvSpPr>
        <p:spPr>
          <a:xfrm>
            <a:off x="9198864" y="5404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o pre-commit barra credenciais e CPF real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PAINEL FISCAL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As telas de trabalho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609344"/>
            <a:ext cx="4370832" cy="1920240"/>
          </a:xfrm>
          <a:prstGeom prst="roundRect">
            <a:avLst>
              <a:gd name="adj" fmla="val 1905"/>
            </a:avLst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5" name="Image 0" descr="Visão ge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297680" cy="18470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566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Visão geral 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o resumo do dia e o que precisa de atenção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84064" y="1609344"/>
            <a:ext cx="4370832" cy="1920240"/>
          </a:xfrm>
          <a:prstGeom prst="roundRect">
            <a:avLst>
              <a:gd name="adj" fmla="val 1905"/>
            </a:avLst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8" name="Image 1" descr="E-m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4297680" cy="18470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20640" y="3566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E-mails 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 caixa dos 4 PCs, com cara de Outlook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12064" y="3986784"/>
            <a:ext cx="4370832" cy="1920240"/>
          </a:xfrm>
          <a:prstGeom prst="roundRect">
            <a:avLst>
              <a:gd name="adj" fmla="val 1905"/>
            </a:avLst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1" name="Image 2" descr="Gerênc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0"/>
            <a:ext cx="4297680" cy="18470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5943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Gerência 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o mês contra o anterior e o que melhorar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084064" y="3986784"/>
            <a:ext cx="4370832" cy="1920240"/>
          </a:xfrm>
          <a:prstGeom prst="roundRect">
            <a:avLst>
              <a:gd name="adj" fmla="val 1905"/>
            </a:avLst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14" name="Image 3" descr="Monitoramen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023360"/>
            <a:ext cx="4297680" cy="184708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20640" y="5943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Monitoramento 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os 4 PCs: ligado, Outlook, versão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9646920" y="1645920"/>
            <a:ext cx="1965960" cy="4480560"/>
          </a:xfrm>
          <a:prstGeom prst="roundRect">
            <a:avLst>
              <a:gd name="adj" fmla="val 4651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icone-busca"/>
          <p:cNvSpPr/>
          <p:nvPr/>
        </p:nvSpPr>
        <p:spPr>
          <a:xfrm>
            <a:off x="987552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4" descr="bus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221" y="1995221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875520" y="2468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Pesquisa instantânea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9875520" y="3017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nos e-mails dos 4 PCs, em centésimos de segundo</a:t>
            </a:r>
            <a:endParaRPr lang="en-US" sz="1100" dirty="0"/>
          </a:p>
        </p:txBody>
      </p:sp>
      <p:sp>
        <p:nvSpPr>
          <p:cNvPr id="21" name="icone-enviar"/>
          <p:cNvSpPr/>
          <p:nvPr/>
        </p:nvSpPr>
        <p:spPr>
          <a:xfrm>
            <a:off x="9875520" y="3931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5" descr="envi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6221" y="4052621"/>
            <a:ext cx="261518" cy="26151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875520" y="4526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Envio da NF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9875520" y="486460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pela caixa do hotel, com conferência antes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FICHA DO PEDIDO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Tudo do hóspede no topo, sem caçar informação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655064"/>
            <a:ext cx="6839712" cy="987552"/>
          </a:xfrm>
          <a:prstGeom prst="roundRect">
            <a:avLst>
              <a:gd name="adj" fmla="val 3704"/>
            </a:avLst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5" name="Image 0" descr="Resumo fixo do hóspe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97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Resumo fixo: quem é, situação, prazo, o que quer na nota e os botões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12064" y="3072384"/>
            <a:ext cx="6839712" cy="1938528"/>
          </a:xfrm>
          <a:prstGeom prst="roundRect">
            <a:avLst>
              <a:gd name="adj" fmla="val 1887"/>
            </a:avLst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</p:sp>
      <p:pic>
        <p:nvPicPr>
          <p:cNvPr id="8" name="Image 1" descr="Formulário em tab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6766560" cy="18653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0749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O formulário vira tabela em grupos, com copiar ao lado de cada valor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2668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Situação · uma por pedido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26680" y="210312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6324D"/>
          </a:solidFill>
          <a:ln w="12700">
            <a:solidFill>
              <a:srgbClr val="16324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26680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8CC8FA"/>
                </a:solidFill>
              </a:rPr>
              <a:t>Sem NF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26680" y="2505456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D3212"/>
          </a:solidFill>
          <a:ln w="12700">
            <a:solidFill>
              <a:srgbClr val="3D321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26680" y="2505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2C76B"/>
                </a:solidFill>
              </a:rPr>
              <a:t>Falta dado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26680" y="290779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2347"/>
          </a:solidFill>
          <a:ln w="12700">
            <a:solidFill>
              <a:srgbClr val="2C23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26680" y="2907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3A6F5"/>
                </a:solidFill>
              </a:rPr>
              <a:t>NF pronta, falta enviar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726680" y="331012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73B2A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26680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8FD19E"/>
                </a:solidFill>
              </a:rPr>
              <a:t>NF enviada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726680" y="371246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5A2A31"/>
          </a:solidFill>
          <a:ln w="12700">
            <a:solidFill>
              <a:srgbClr val="5A2A3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26680" y="37124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C2C7"/>
                </a:solidFill>
              </a:rPr>
              <a:t>Correção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772668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Alertas · somam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726680" y="461772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E8484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26680" y="4617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8D95"/>
                </a:solidFill>
              </a:rPr>
              <a:t>Urgente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692640" y="461772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F0A04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692640" y="4617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6B26B"/>
                </a:solidFill>
              </a:rPr>
              <a:t>Possível repetido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726680" y="5020056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4F9FE8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726680" y="50200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FD0FA"/>
                </a:solidFill>
              </a:rPr>
              <a:t>Nota dividida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9692640" y="5020056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E8484F"/>
            </a:solidFill>
            <a:prstDash val="dash"/>
          </a:ln>
        </p:spPr>
      </p:sp>
      <p:sp>
        <p:nvSpPr>
          <p:cNvPr id="29" name="Text 25"/>
          <p:cNvSpPr txBox="1"/>
          <p:nvPr/>
        </p:nvSpPr>
        <p:spPr>
          <a:xfrm>
            <a:off x="9692640" y="50200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8D95"/>
                </a:solidFill>
              </a:rPr>
              <a:t>CPF/CNPJ diferente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726680" y="5422392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12700">
            <a:solidFill>
              <a:srgbClr val="F0A04B"/>
            </a:solidFill>
            <a:prstDash val="dash"/>
          </a:ln>
        </p:spPr>
      </p:sp>
      <p:sp>
        <p:nvSpPr>
          <p:cNvPr id="31" name="Text 27"/>
          <p:cNvSpPr txBox="1"/>
          <p:nvPr/>
        </p:nvSpPr>
        <p:spPr>
          <a:xfrm>
            <a:off x="7726680" y="54223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6B26B"/>
                </a:solidFill>
              </a:rPr>
              <a:t>Diz que não recebeu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TECNOLOGIAS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 o que foi construído</a:t>
            </a:r>
            <a:endParaRPr lang="en-US" sz="3000" dirty="0"/>
          </a:p>
        </p:txBody>
      </p:sp>
      <p:sp>
        <p:nvSpPr>
          <p:cNvPr id="4" name="tec-1"/>
          <p:cNvSpPr/>
          <p:nvPr/>
        </p:nvSpPr>
        <p:spPr>
          <a:xfrm>
            <a:off x="548640" y="1783080"/>
            <a:ext cx="2084832" cy="42062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icone-codigo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codi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2000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chemeClr val="tx1"/>
                </a:solidFill>
              </a:rPr>
              <a:t>Robô e servidor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101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Python 3.14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31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pywin32 (controla o Outlook)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553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pypdf (lê a NF)</a:t>
            </a:r>
            <a:endParaRPr lang="en-US" sz="1300" dirty="0"/>
          </a:p>
        </p:txBody>
      </p:sp>
      <p:sp>
        <p:nvSpPr>
          <p:cNvPr id="11" name="tec-2"/>
          <p:cNvSpPr/>
          <p:nvPr/>
        </p:nvSpPr>
        <p:spPr>
          <a:xfrm>
            <a:off x="2798064" y="1783080"/>
            <a:ext cx="2084832" cy="42062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icone-tabela"/>
          <p:cNvSpPr/>
          <p:nvPr/>
        </p:nvSpPr>
        <p:spPr>
          <a:xfrm>
            <a:off x="3026664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tabe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0" y="220004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26664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chemeClr val="tx1"/>
                </a:solidFill>
              </a:rPr>
              <a:t>Google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3026664" y="33101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Forms e Sheets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026664" y="3931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Apps Script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026664" y="4553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gspread (conta de serviço)</a:t>
            </a:r>
            <a:endParaRPr lang="en-US" sz="1300" dirty="0"/>
          </a:p>
        </p:txBody>
      </p:sp>
      <p:sp>
        <p:nvSpPr>
          <p:cNvPr id="18" name="tec-3"/>
          <p:cNvSpPr/>
          <p:nvPr/>
        </p:nvSpPr>
        <p:spPr>
          <a:xfrm>
            <a:off x="5047488" y="1783080"/>
            <a:ext cx="2084832" cy="42062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icone-pc"/>
          <p:cNvSpPr/>
          <p:nvPr/>
        </p:nvSpPr>
        <p:spPr>
          <a:xfrm>
            <a:off x="5276088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p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34" y="2200046"/>
            <a:ext cx="309067" cy="30906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76088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chemeClr val="tx1"/>
                </a:solidFill>
              </a:rPr>
              <a:t>Telas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5276088" y="33101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HTML, CSS e JavaScript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276088" y="3931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pywebview (janela própria)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276088" y="4553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peças únicas</a:t>
            </a:r>
            <a:endParaRPr lang="en-US" sz="1300" dirty="0"/>
          </a:p>
        </p:txBody>
      </p:sp>
      <p:sp>
        <p:nvSpPr>
          <p:cNvPr id="25" name="tec-4"/>
          <p:cNvSpPr/>
          <p:nvPr/>
        </p:nvSpPr>
        <p:spPr>
          <a:xfrm>
            <a:off x="7296912" y="1783080"/>
            <a:ext cx="2084832" cy="42062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icone-nuvem"/>
          <p:cNvSpPr/>
          <p:nvPr/>
        </p:nvSpPr>
        <p:spPr>
          <a:xfrm>
            <a:off x="7525512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3" descr="nuv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158" y="2200046"/>
            <a:ext cx="309067" cy="30906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25512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chemeClr val="tx1"/>
                </a:solidFill>
              </a:rPr>
              <a:t>Infraestrutura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7525512" y="33101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Outlook e Dropbox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525512" y="3931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GitHub + Actions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7525512" y="4553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Agendador do Windows</a:t>
            </a:r>
            <a:endParaRPr lang="en-US" sz="1300" dirty="0"/>
          </a:p>
        </p:txBody>
      </p:sp>
      <p:sp>
        <p:nvSpPr>
          <p:cNvPr id="32" name="tec-5"/>
          <p:cNvSpPr/>
          <p:nvPr/>
        </p:nvSpPr>
        <p:spPr>
          <a:xfrm>
            <a:off x="9546336" y="1783080"/>
            <a:ext cx="2084832" cy="4206240"/>
          </a:xfrm>
          <a:prstGeom prst="roundRect">
            <a:avLst>
              <a:gd name="adj" fmla="val 4386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3" name="icone-check"/>
          <p:cNvSpPr/>
          <p:nvPr/>
        </p:nvSpPr>
        <p:spPr>
          <a:xfrm>
            <a:off x="9774936" y="20574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4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582" y="2200046"/>
            <a:ext cx="309067" cy="30906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774936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chemeClr val="tx1"/>
                </a:solidFill>
              </a:rPr>
              <a:t>Qualidade e IA</a:t>
            </a:r>
            <a:endParaRPr lang="en-US" sz="1550" dirty="0"/>
          </a:p>
        </p:txBody>
      </p:sp>
      <p:sp>
        <p:nvSpPr>
          <p:cNvPr id="36" name="Text 29"/>
          <p:cNvSpPr txBox="1"/>
          <p:nvPr/>
        </p:nvSpPr>
        <p:spPr>
          <a:xfrm>
            <a:off x="9774936" y="33101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pytest e ruff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9774936" y="39319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Obsidian (Segundo Cérebro)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9774936" y="4553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Claude Code · Supabase (futuro)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 "parece um jogo" ao Outlook escuro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94560"/>
            <a:ext cx="274320" cy="274320"/>
          </a:xfrm>
          <a:prstGeom prst="ellipse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810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até 11/10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Parece um jogo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muitas cores, sem paleta definida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57016" y="2194560"/>
            <a:ext cx="274320" cy="274320"/>
          </a:xfrm>
          <a:prstGeom prst="ellipse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810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11/10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5848" y="269748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4448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Paleta fiscal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sóbria, verde e creme, menos poluição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64224" y="2194560"/>
            <a:ext cx="274320" cy="274320"/>
          </a:xfrm>
          <a:prstGeom prst="ellipse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1810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12/10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3056" y="269748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91656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Padrão fixo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regras únicas para uma empresa grande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71432" y="21945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43416" y="1810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20/10 em diante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70264" y="26974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1D355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98864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FE4FB"/>
                </a:solidFill>
              </a:rPr>
              <a:t>Outlook escuro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3246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6"/>
                </a:solidFill>
              </a:rPr>
              <a:t>cinza com azul de destaque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Paleta atual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804672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4681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fundo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81328" y="4754880"/>
            <a:ext cx="804672" cy="640080"/>
          </a:xfrm>
          <a:prstGeom prst="roundRect">
            <a:avLst>
              <a:gd name="adj" fmla="val 11429"/>
            </a:avLst>
          </a:prstGeom>
          <a:solidFill>
            <a:srgbClr val="262626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81328" y="54681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cartão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14016" y="4754880"/>
            <a:ext cx="804672" cy="640080"/>
          </a:xfrm>
          <a:prstGeom prst="roundRect">
            <a:avLst>
              <a:gd name="adj" fmla="val 11429"/>
            </a:avLst>
          </a:prstGeom>
          <a:solidFill>
            <a:srgbClr val="3A3A3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14016" y="54681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borda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46704" y="4754880"/>
            <a:ext cx="804672" cy="640080"/>
          </a:xfrm>
          <a:prstGeom prst="roundRect">
            <a:avLst>
              <a:gd name="adj" fmla="val 11429"/>
            </a:avLst>
          </a:prstGeom>
          <a:solidFill>
            <a:srgbClr val="F0F0F0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46704" y="54681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texto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79392" y="4754880"/>
            <a:ext cx="804672" cy="640080"/>
          </a:xfrm>
          <a:prstGeom prst="roundRect">
            <a:avLst>
              <a:gd name="adj" fmla="val 11429"/>
            </a:avLst>
          </a:prstGeom>
          <a:solidFill>
            <a:srgbClr val="479EF5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79392" y="54681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destaque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4754880"/>
            <a:ext cx="804672" cy="640080"/>
          </a:xfrm>
          <a:prstGeom prst="roundRect">
            <a:avLst>
              <a:gd name="adj" fmla="val 11429"/>
            </a:avLst>
          </a:prstGeom>
          <a:solidFill>
            <a:srgbClr val="1E3F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12080" y="54681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verde (tabela)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4754880"/>
            <a:ext cx="804672" cy="640080"/>
          </a:xfrm>
          <a:prstGeom prst="roundRect">
            <a:avLst>
              <a:gd name="adj" fmla="val 11429"/>
            </a:avLst>
          </a:prstGeom>
          <a:solidFill>
            <a:srgbClr val="F6EFDC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44768" y="54681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2"/>
                </a:solidFill>
              </a:rPr>
              <a:t>creme (tabela)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4343400"/>
            <a:ext cx="4297680" cy="1691640"/>
          </a:xfrm>
          <a:prstGeom prst="roundRect">
            <a:avLst>
              <a:gd name="adj" fmla="val 5405"/>
            </a:avLst>
          </a:prstGeom>
          <a:solidFill>
            <a:srgbClr val="2B2B2B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Peças únicas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4892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Cada elemento existe uma vez e todas as telas usam a mesma peça: Filtro, Etiqueta e Janela. Mudou num lugar, muda em todos.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SEGURANÇA E LGPD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Protegido por padrão</a:t>
            </a:r>
            <a:endParaRPr lang="en-US" sz="3000" dirty="0"/>
          </a:p>
        </p:txBody>
      </p:sp>
      <p:sp>
        <p:nvSpPr>
          <p:cNvPr id="4" name="seguranca"/>
          <p:cNvSpPr/>
          <p:nvPr/>
        </p:nvSpPr>
        <p:spPr>
          <a:xfrm>
            <a:off x="548640" y="1737360"/>
            <a:ext cx="5486400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Segurança</a:t>
            </a:r>
            <a:endParaRPr lang="en-US" sz="1700" dirty="0"/>
          </a:p>
        </p:txBody>
      </p:sp>
      <p:sp>
        <p:nvSpPr>
          <p:cNvPr id="6" name="icone-cadeado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cade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871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3500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Painel só no próprio PC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6517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atende apenas 127.0.0.1, com senha de sessão</a:t>
            </a:r>
            <a:endParaRPr lang="en-US" sz="1200" dirty="0"/>
          </a:p>
        </p:txBody>
      </p:sp>
      <p:sp>
        <p:nvSpPr>
          <p:cNvPr id="10" name="icone-rede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re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2186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0815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Rede só local e assinada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3832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pedido vale 2 min; fora da rede, ninguém alcança</a:t>
            </a:r>
            <a:endParaRPr lang="en-US" sz="1200" dirty="0"/>
          </a:p>
        </p:txBody>
      </p:sp>
      <p:sp>
        <p:nvSpPr>
          <p:cNvPr id="14" name="icone-escudo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escu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9502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8130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Nada de segredo no código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1148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o pre-commit barra credenciais e CPF real</a:t>
            </a:r>
            <a:endParaRPr lang="en-US" sz="1200" dirty="0"/>
          </a:p>
        </p:txBody>
      </p:sp>
      <p:sp>
        <p:nvSpPr>
          <p:cNvPr id="18" name="icone-check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68172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5445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Só leitura nas fontes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1463040" y="48463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planilhas dos hotéis e Mail Analytics</a:t>
            </a:r>
            <a:endParaRPr lang="en-US" sz="1200" dirty="0"/>
          </a:p>
        </p:txBody>
      </p:sp>
      <p:sp>
        <p:nvSpPr>
          <p:cNvPr id="22" name="lgpd"/>
          <p:cNvSpPr/>
          <p:nvPr/>
        </p:nvSpPr>
        <p:spPr>
          <a:xfrm>
            <a:off x="6126480" y="1737360"/>
            <a:ext cx="5486400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4008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LGPD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040880" y="23500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Base legal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7040880" y="26517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obrigação legal e contrato: só para emitir e mandar a NF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0" y="3108960"/>
            <a:ext cx="457200" cy="45720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040880" y="30815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Prazos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7040880" y="33832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filas 3 dias · Tratamento vira resumo em 3 dias e sai em 150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7040880" y="38130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Exemplos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7040880" y="41148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telas, testes e documentos só com dados inventados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400800" y="4572000"/>
            <a:ext cx="457200" cy="45720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4008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7040880" y="45445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Pedido do hóspede</a:t>
            </a:r>
            <a:endParaRPr 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7040880" y="48463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resposta em até 15 dias; a NF fica 5 anos (lei fiscal)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33290F"/>
          </a:solidFill>
          <a:ln w="12700">
            <a:solidFill>
              <a:srgbClr val="5A4A1E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C76B"/>
                </a:solidFill>
              </a:rPr>
              <a:t>Limites de hoje: 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D7A8"/>
                </a:solidFill>
              </a:rPr>
              <a:t>Outlook aberto e PC ligado · um PC principal · cota do Google · firewall exige administrador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FUTURO ·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Gerência em tempo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06840" y="365760"/>
            <a:ext cx="2633472" cy="292608"/>
          </a:xfrm>
          <a:prstGeom prst="roundRect">
            <a:avLst>
              <a:gd name="adj" fmla="val 50000"/>
            </a:avLst>
          </a:prstGeom>
          <a:solidFill>
            <a:srgbClr val="33290F"/>
          </a:solidFill>
          <a:ln w="12700">
            <a:solidFill>
              <a:srgbClr val="5A4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6840" y="3657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4"/>
                </a:solidFill>
              </a:rPr>
              <a:t>ROADMAP · AINDA NÃO EXISTE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O que é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Ver o que cada agente está fazendo agora: e-mails, NFs, tempo de resposta e pendências.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072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Já existe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8072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PCs_Painel, Atividade_Robo e a tela de Monitoramento.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31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Falta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83133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Atualizar na hora (sem esperar 15 s) e uma visão de gestor.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554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Cuidado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485546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Para melhorar o processo, não para vigiar pessoas.</a:t>
            </a:r>
            <a:endParaRPr lang="en-US" sz="1400" dirty="0"/>
          </a:p>
        </p:txBody>
      </p:sp>
      <p:sp>
        <p:nvSpPr>
          <p:cNvPr id="14" name="rascunho-gerencia"/>
          <p:cNvSpPr/>
          <p:nvPr/>
        </p:nvSpPr>
        <p:spPr>
          <a:xfrm>
            <a:off x="5943600" y="1737360"/>
            <a:ext cx="5669280" cy="4343400"/>
          </a:xfrm>
          <a:prstGeom prst="roundRect">
            <a:avLst>
              <a:gd name="adj" fmla="val 2105"/>
            </a:avLst>
          </a:prstGeom>
          <a:solidFill>
            <a:srgbClr val="18181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Equipe agora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251460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Agente 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0" y="2496312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respondendo e-mail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154680"/>
            <a:ext cx="2103120" cy="9144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154680"/>
            <a:ext cx="1472184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331720"/>
            <a:ext cx="251460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98280" y="2423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tx1"/>
                </a:solidFill>
              </a:rPr>
              <a:t>Agente 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109960" y="2496312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9828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enviando NF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98280" y="3154680"/>
            <a:ext cx="2103120" cy="9144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98280" y="3154680"/>
            <a:ext cx="1009498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graphicFrame>
        <p:nvGraphicFramePr>
          <p:cNvPr id="28" name="Chart 0" descr=""/>
          <p:cNvGraphicFramePr/>
          <p:nvPr/>
        </p:nvGraphicFramePr>
        <p:xfrm>
          <a:off x="6217920" y="3794760"/>
          <a:ext cx="51663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FUTURO ·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agente de IA dentro do Painel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06840" y="365760"/>
            <a:ext cx="2633472" cy="292608"/>
          </a:xfrm>
          <a:prstGeom prst="roundRect">
            <a:avLst>
              <a:gd name="adj" fmla="val 50000"/>
            </a:avLst>
          </a:prstGeom>
          <a:solidFill>
            <a:srgbClr val="33290F"/>
          </a:solidFill>
          <a:ln w="12700">
            <a:solidFill>
              <a:srgbClr val="5A4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6840" y="3657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4"/>
                </a:solidFill>
              </a:rPr>
              <a:t>ROADMAP · AINDA NÃO EXISTE</a:t>
            </a:r>
            <a:endParaRPr lang="en-US" sz="1000" dirty="0"/>
          </a:p>
        </p:txBody>
      </p:sp>
      <p:sp>
        <p:nvSpPr>
          <p:cNvPr id="6" name="rascunho-ia"/>
          <p:cNvSpPr/>
          <p:nvPr/>
        </p:nvSpPr>
        <p:spPr>
          <a:xfrm>
            <a:off x="548640" y="173736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18181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Pergunte ao Painel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377440"/>
            <a:ext cx="3383280" cy="777240"/>
          </a:xfrm>
          <a:prstGeom prst="roundRect">
            <a:avLst>
              <a:gd name="adj" fmla="val 18824"/>
            </a:avLst>
          </a:prstGeom>
          <a:solidFill>
            <a:srgbClr val="1D355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4FB"/>
                </a:solidFill>
              </a:rPr>
              <a:t>Quantas NFs o hotel X emitiu essa semana?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4023360" cy="123444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Foram 23 NFs de segunda até hoje, 4 a mais que na semana passada.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1605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60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ver lista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41605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94560" y="4160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gerar relatório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493776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166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7A7A"/>
                </a:solidFill>
              </a:rPr>
              <a:t>Escreva uma pergunta…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0" y="528523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806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A8A"/>
                </a:solidFill>
              </a:rPr>
              <a:t>Números ilustrativos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783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O que é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178308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Perguntar em português e receber o dado ou o relatório na hora.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834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Já existe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28346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 API local do Painel e a ideia de ponte com o Claude (skill graft).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8862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Falta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38862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 ponte, só de leitura, e as regras de quem pergunta o quê.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9377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Cuidado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49377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 IA não recebe CPF ou nome de hóspede sem necessidade; perguntas registradas.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FUTURO ·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Faturamento, canceladas e caixa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06840" y="365760"/>
            <a:ext cx="2633472" cy="292608"/>
          </a:xfrm>
          <a:prstGeom prst="roundRect">
            <a:avLst>
              <a:gd name="adj" fmla="val 50000"/>
            </a:avLst>
          </a:prstGeom>
          <a:solidFill>
            <a:srgbClr val="33290F"/>
          </a:solidFill>
          <a:ln w="12700">
            <a:solidFill>
              <a:srgbClr val="5A4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6840" y="3657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4"/>
                </a:solidFill>
              </a:rPr>
              <a:t>ROADMAP · AINDA NÃO EXISTE</a:t>
            </a:r>
            <a:endParaRPr lang="en-US" sz="1000" dirty="0"/>
          </a:p>
        </p:txBody>
      </p:sp>
      <p:sp>
        <p:nvSpPr>
          <p:cNvPr id="6" name="fin-1"/>
          <p:cNvSpPr/>
          <p:nvPr/>
        </p:nvSpPr>
        <p:spPr>
          <a:xfrm>
            <a:off x="548640" y="1783080"/>
            <a:ext cx="3529584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icone-calculadora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calculad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21101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Faturamento e NF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91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Valores emitidos por período, com dados concretos de cada nota.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chemeClr val="accent6"/>
                </a:solidFill>
              </a:rPr>
              <a:t>Base hoje: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canceladas.py, confirmar_nfs.py, Dropbox</a:t>
            </a:r>
            <a:endParaRPr lang="en-US" sz="1150" dirty="0"/>
          </a:p>
        </p:txBody>
      </p:sp>
      <p:sp>
        <p:nvSpPr>
          <p:cNvPr id="12" name="fin-2"/>
          <p:cNvSpPr/>
          <p:nvPr/>
        </p:nvSpPr>
        <p:spPr>
          <a:xfrm>
            <a:off x="4315968" y="1783080"/>
            <a:ext cx="3529584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icone-historico"/>
          <p:cNvSpPr/>
          <p:nvPr/>
        </p:nvSpPr>
        <p:spPr>
          <a:xfrm>
            <a:off x="4636008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histori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627" y="221101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36008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Canceladas em tempo real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36008" y="3291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Notas canceladas e substituídas aparecendo na hora.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636008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chemeClr val="accent6"/>
                </a:solidFill>
              </a:rPr>
              <a:t>Base hoje: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leitura dos arquivos renomeados no Dropbox</a:t>
            </a:r>
            <a:endParaRPr lang="en-US" sz="1150" dirty="0"/>
          </a:p>
        </p:txBody>
      </p:sp>
      <p:sp>
        <p:nvSpPr>
          <p:cNvPr id="18" name="fin-3"/>
          <p:cNvSpPr/>
          <p:nvPr/>
        </p:nvSpPr>
        <p:spPr>
          <a:xfrm>
            <a:off x="8083296" y="1783080"/>
            <a:ext cx="3529584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icone-grafico"/>
          <p:cNvSpPr/>
          <p:nvPr/>
        </p:nvSpPr>
        <p:spPr>
          <a:xfrm>
            <a:off x="8403336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grafic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221101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03336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Controle de caixa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03336" y="3291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Dinheiro que entra e sai, num painel só.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403336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chemeClr val="accent6"/>
                </a:solidFill>
              </a:rPr>
              <a:t>Base hoje: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pouca: seria um módulo novo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33290F"/>
          </a:solidFill>
          <a:ln w="12700">
            <a:solidFill>
              <a:srgbClr val="5A4A1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C76B"/>
                </a:solidFill>
              </a:rPr>
              <a:t>Cuidados:  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D7A8"/>
                </a:solidFill>
              </a:rPr>
              <a:t>dado financeiro só para quem precisa · trilha de quem alterou o quê · fonte oficial definida antes de construir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FUTURO ·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Mais setores, mais gente, um banco central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06840" y="365760"/>
            <a:ext cx="2633472" cy="292608"/>
          </a:xfrm>
          <a:prstGeom prst="roundRect">
            <a:avLst>
              <a:gd name="adj" fmla="val 50000"/>
            </a:avLst>
          </a:prstGeom>
          <a:solidFill>
            <a:srgbClr val="33290F"/>
          </a:solidFill>
          <a:ln w="12700">
            <a:solidFill>
              <a:srgbClr val="5A4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6840" y="3657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4"/>
                </a:solidFill>
              </a:rPr>
              <a:t>ROADMAP · AINDA NÃO EXISTE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Usuários com hierarquia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94560" y="224028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3D4758"/>
          </a:solidFill>
          <a:ln w="12700">
            <a:solidFill>
              <a:srgbClr val="3D47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22402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Diretoria  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6F2"/>
                </a:solidFill>
              </a:rPr>
              <a:t>visão consolidada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45920" y="3108960"/>
            <a:ext cx="3108960" cy="713232"/>
          </a:xfrm>
          <a:prstGeom prst="roundRect">
            <a:avLst>
              <a:gd name="adj" fmla="val 12821"/>
            </a:avLst>
          </a:prstGeom>
          <a:solidFill>
            <a:srgbClr val="2F4A73"/>
          </a:solidFill>
          <a:ln w="12700">
            <a:solidFill>
              <a:srgbClr val="2F4A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31089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Gerência  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6F2"/>
                </a:solidFill>
              </a:rPr>
              <a:t>todos os setores e relatórios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977640"/>
            <a:ext cx="4206240" cy="713232"/>
          </a:xfrm>
          <a:prstGeom prst="roundRect">
            <a:avLst>
              <a:gd name="adj" fmla="val 12821"/>
            </a:avLst>
          </a:prstGeom>
          <a:solidFill>
            <a:srgbClr val="1F6FC5"/>
          </a:solidFill>
          <a:ln w="12700">
            <a:solidFill>
              <a:srgbClr val="1F6F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9776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Supervisor  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6F2"/>
                </a:solidFill>
              </a:rPr>
              <a:t>a equipe do seu setor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5303520" cy="713232"/>
          </a:xfrm>
          <a:prstGeom prst="roundRect">
            <a:avLst>
              <a:gd name="adj" fmla="val 12821"/>
            </a:avLst>
          </a:prstGeom>
          <a:solidFill>
            <a:srgbClr val="479EF5"/>
          </a:solidFill>
          <a:ln w="12700">
            <a:solidFill>
              <a:srgbClr val="479E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4632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Agente  </a:t>
            </a:r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DE6F2"/>
                </a:solidFill>
              </a:rPr>
              <a:t>os seus hotéis e pedidos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790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quem está acima vê mais, nunca o contrário</a:t>
            </a:r>
            <a:endParaRPr lang="en-US" sz="1100" dirty="0"/>
          </a:p>
        </p:txBody>
      </p:sp>
      <p:sp>
        <p:nvSpPr>
          <p:cNvPr id="16" name="setor-1"/>
          <p:cNvSpPr/>
          <p:nvPr/>
        </p:nvSpPr>
        <p:spPr>
          <a:xfrm>
            <a:off x="6263640" y="1737360"/>
            <a:ext cx="53492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icone-pessoas"/>
          <p:cNvSpPr/>
          <p:nvPr/>
        </p:nvSpPr>
        <p:spPr>
          <a:xfrm>
            <a:off x="6537960" y="2011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0" descr="pesso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0606" y="2154326"/>
            <a:ext cx="309067" cy="30906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36092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Comercial conectado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24688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Ligar os PCs do Comercial para a comunicação interna; depois reservas e ligações internas. Base: o mesmo modelo de hoje (cada PC espelha o seu Outlook).</a:t>
            </a:r>
            <a:endParaRPr lang="en-US" sz="1250" dirty="0"/>
          </a:p>
        </p:txBody>
      </p:sp>
      <p:sp>
        <p:nvSpPr>
          <p:cNvPr id="21" name="setor-2"/>
          <p:cNvSpPr/>
          <p:nvPr/>
        </p:nvSpPr>
        <p:spPr>
          <a:xfrm>
            <a:off x="6263640" y="3931920"/>
            <a:ext cx="534924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icone-nuvem"/>
          <p:cNvSpPr/>
          <p:nvPr/>
        </p:nvSpPr>
        <p:spPr>
          <a:xfrm>
            <a:off x="6537960" y="42062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1" descr="nuv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4348886"/>
            <a:ext cx="309067" cy="30906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36092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Banco central (Supabase)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360920" y="4663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Trocar a Planilha Central por um banco de dados quando crescer: sem a cota de 60 por minuto, mais rápido e com histórico. Já configurado, ainda não usado.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Por etapas, cada uma com desenho e aprovação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06840" y="365760"/>
            <a:ext cx="2633472" cy="292608"/>
          </a:xfrm>
          <a:prstGeom prst="roundRect">
            <a:avLst>
              <a:gd name="adj" fmla="val 50000"/>
            </a:avLst>
          </a:prstGeom>
          <a:solidFill>
            <a:srgbClr val="33290F"/>
          </a:solidFill>
          <a:ln w="12700">
            <a:solidFill>
              <a:srgbClr val="5A4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06840" y="3657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chemeClr val="accent4"/>
                </a:solidFill>
              </a:rPr>
              <a:t>ROADMAP · AINDA NÃO EXISTE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515600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659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Etapa 1 · agora</a:t>
            </a:r>
            <a:endParaRPr lang="en-US" sz="1200" dirty="0"/>
          </a:p>
        </p:txBody>
      </p:sp>
      <p:sp>
        <p:nvSpPr>
          <p:cNvPr id="9" name="etapa-1"/>
          <p:cNvSpPr/>
          <p:nvPr/>
        </p:nvSpPr>
        <p:spPr>
          <a:xfrm>
            <a:off x="548640" y="2788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D3550"/>
          </a:solidFill>
          <a:ln w="12700">
            <a:solidFill>
              <a:srgbClr val="2D4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FE4FB"/>
                </a:solidFill>
              </a:rPr>
              <a:t>Instantâneo entre PCs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033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envio direto pela rede · e-mail novo na hora · tela que recebe só o que mudou · NF do Dropbox na hora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57016" y="1965960"/>
            <a:ext cx="274320" cy="274320"/>
          </a:xfrm>
          <a:prstGeom prst="ellipse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55848" y="2423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Etapa 2</a:t>
            </a:r>
            <a:endParaRPr lang="en-US" sz="1200" dirty="0"/>
          </a:p>
        </p:txBody>
      </p:sp>
      <p:sp>
        <p:nvSpPr>
          <p:cNvPr id="14" name="etapa-2"/>
          <p:cNvSpPr/>
          <p:nvPr/>
        </p:nvSpPr>
        <p:spPr>
          <a:xfrm>
            <a:off x="3355848" y="278892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84448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Gerência em tempo real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84448" y="37033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equipe agora · monitoramento por agente · relatórios sob pedido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64224" y="1965960"/>
            <a:ext cx="274320" cy="274320"/>
          </a:xfrm>
          <a:prstGeom prst="ellipse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63056" y="2423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Etapa 3</a:t>
            </a:r>
            <a:endParaRPr lang="en-US" sz="1200" dirty="0"/>
          </a:p>
        </p:txBody>
      </p:sp>
      <p:sp>
        <p:nvSpPr>
          <p:cNvPr id="19" name="etapa-3"/>
          <p:cNvSpPr/>
          <p:nvPr/>
        </p:nvSpPr>
        <p:spPr>
          <a:xfrm>
            <a:off x="6163056" y="278892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91656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Pessoas e permissões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37033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login por pessoa · hierarquia · agente de IA só de leitura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71432" y="1965960"/>
            <a:ext cx="274320" cy="274320"/>
          </a:xfrm>
          <a:prstGeom prst="ellipse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70264" y="2423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2"/>
                </a:solidFill>
              </a:rPr>
              <a:t>Etapa 4 · até o fim de 2026 e depois</a:t>
            </a:r>
            <a:endParaRPr lang="en-US" sz="1200" dirty="0"/>
          </a:p>
        </p:txBody>
      </p:sp>
      <p:sp>
        <p:nvSpPr>
          <p:cNvPr id="24" name="etapa-4"/>
          <p:cNvSpPr/>
          <p:nvPr/>
        </p:nvSpPr>
        <p:spPr>
          <a:xfrm>
            <a:off x="8970264" y="278892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98864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Central da empresa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37033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tx2"/>
                </a:solidFill>
              </a:rPr>
              <a:t>banco central · faturamento e caixa · Comercial conectado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Proposta para discussão: nenhuma etapa entra sem desenho antes e o OK de quem decide.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PRÓXIMOS PASSOS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eu recomendo fazer primeiro</a:t>
            </a:r>
            <a:endParaRPr lang="en-US" sz="3000" dirty="0"/>
          </a:p>
        </p:txBody>
      </p:sp>
      <p:sp>
        <p:nvSpPr>
          <p:cNvPr id="4" name="passo-final-1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Envio direto pela rede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783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Responder e Enviar NF na hora, com a fila como reserva.</a:t>
            </a:r>
            <a:endParaRPr lang="en-US" sz="1300" dirty="0"/>
          </a:p>
        </p:txBody>
      </p:sp>
      <p:sp>
        <p:nvSpPr>
          <p:cNvPr id="9" name="passo-final-2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51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E-mail novo e NF na hora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651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aviso do Outlook e do Windows, em vez de conferir de tempos em tempos</a:t>
            </a:r>
            <a:endParaRPr lang="en-US" sz="1300" dirty="0"/>
          </a:p>
        </p:txBody>
      </p:sp>
      <p:sp>
        <p:nvSpPr>
          <p:cNvPr id="14" name="passo-final-3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520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Tela que recebe só o que mudou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5204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mais leve, e o trabalho dos colegas aparece na hora</a:t>
            </a:r>
            <a:endParaRPr lang="en-US" sz="1300" dirty="0"/>
          </a:p>
        </p:txBody>
      </p:sp>
      <p:sp>
        <p:nvSpPr>
          <p:cNvPr id="19" name="passo-final-4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389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Rede da Clara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43891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liberar a porta para a faixa de rede do PC dela, com um administrador</a:t>
            </a:r>
            <a:endParaRPr lang="en-US" sz="1300" dirty="0"/>
          </a:p>
        </p:txBody>
      </p:sp>
      <p:sp>
        <p:nvSpPr>
          <p:cNvPr id="24" name="passo-final-5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257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Desenhar a Gerência em tempo real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52578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o primeiro item do roadmap, com a base que já existe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5943600" cy="59436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Obrigado</a:t>
            </a:r>
            <a:endParaRPr lang="en-US" sz="5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Um robô que entrega cada pedido, um painel onde a equipe trabalha, e uma base pronta para virar a central da empresa.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chemeClr val="accent1"/>
                </a:solidFill>
              </a:rPr>
              <a:t>~73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hotéis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chemeClr val="tx1"/>
                </a:solidFill>
              </a:rPr>
              <a:t>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PCs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chemeClr val="tx1"/>
                </a:solidFill>
              </a:rPr>
              <a:t>440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testes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5029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chemeClr val="tx1"/>
                </a:solidFill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caminhos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5394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2"/>
                </a:solidFill>
              </a:rPr>
              <a:t>Perguntas?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inel Fiscal Escuro">
  <a:themeElements>
    <a:clrScheme name="Painel Fiscal Escuro">
      <a:dk1>
        <a:srgbClr val="F0F0F0"/>
      </a:dk1>
      <a:lt1>
        <a:srgbClr val="1F1F1F"/>
      </a:lt1>
      <a:dk2>
        <a:srgbClr val="A8A8A8"/>
      </a:dk2>
      <a:lt2>
        <a:srgbClr val="262626"/>
      </a:lt2>
      <a:accent1>
        <a:srgbClr val="479EF5"/>
      </a:accent1>
      <a:accent2>
        <a:srgbClr val="8B6CF0"/>
      </a:accent2>
      <a:accent3>
        <a:srgbClr val="3DA755"/>
      </a:accent3>
      <a:accent4>
        <a:srgbClr val="E2B64C"/>
      </a:accent4>
      <a:accent5>
        <a:srgbClr val="F08A7E"/>
      </a:accent5>
      <a:accent6>
        <a:srgbClr val="6CB8F6"/>
      </a:accent6>
      <a:hlink>
        <a:srgbClr val="6CB8F6"/>
      </a:hlink>
      <a:folHlink>
        <a:srgbClr val="8B6CF0"/>
      </a:folHlink>
    </a:clrScheme>
    <a:fontScheme name="Painel Fiscal Escuro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Rede Andrade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Notas Fiscais</dc:title>
  <dc:subject>PptxGenJS Presentation</dc:subject>
  <dc:creator>Rede Andrade · Setor fiscal</dc:creator>
  <cp:lastModifiedBy>Rede Andrade · Setor fiscal</cp:lastModifiedBy>
  <cp:revision>1</cp:revision>
  <dcterms:created xsi:type="dcterms:W3CDTF">2026-10-21T18:45:43Z</dcterms:created>
  <dcterms:modified xsi:type="dcterms:W3CDTF">2026-10-21T18:45:43Z</dcterms:modified>
</cp:coreProperties>
</file>